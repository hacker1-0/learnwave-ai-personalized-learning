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lus Jakarta Sans"/>
      <p:regular r:id="rId15"/>
      <p:bold r:id="rId16"/>
      <p:italic r:id="rId17"/>
      <p:boldItalic r:id="rId18"/>
    </p:embeddedFont>
    <p:embeddedFont>
      <p:font typeface="Space Grotesk" pitchFamily="2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4.fntdata" /><Relationship Id="rId3" Type="http://schemas.openxmlformats.org/officeDocument/2006/relationships/slide" Target="slides/slide2.xml" /><Relationship Id="rId21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3.fntdata" /><Relationship Id="rId2" Type="http://schemas.openxmlformats.org/officeDocument/2006/relationships/slide" Target="slides/slide1.xml" /><Relationship Id="rId16" Type="http://schemas.openxmlformats.org/officeDocument/2006/relationships/font" Target="fonts/font2.fntdata" /><Relationship Id="rId20" Type="http://schemas.openxmlformats.org/officeDocument/2006/relationships/font" Target="fonts/font6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font" Target="fonts/font1.fntdata" /><Relationship Id="rId23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font" Target="fonts/font5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 /><Relationship Id="rId3" Type="http://schemas.openxmlformats.org/officeDocument/2006/relationships/image" Target="../media/image2.png" /><Relationship Id="rId7" Type="http://schemas.openxmlformats.org/officeDocument/2006/relationships/image" Target="../media/image6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1.png" /><Relationship Id="rId5" Type="http://schemas.openxmlformats.org/officeDocument/2006/relationships/image" Target="../media/image10.png" /><Relationship Id="rId4" Type="http://schemas.openxmlformats.org/officeDocument/2006/relationships/image" Target="../media/image9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 /><Relationship Id="rId13" Type="http://schemas.openxmlformats.org/officeDocument/2006/relationships/image" Target="../media/image23.png" /><Relationship Id="rId3" Type="http://schemas.openxmlformats.org/officeDocument/2006/relationships/image" Target="../media/image13.png" /><Relationship Id="rId7" Type="http://schemas.openxmlformats.org/officeDocument/2006/relationships/image" Target="../media/image17.png" /><Relationship Id="rId12" Type="http://schemas.openxmlformats.org/officeDocument/2006/relationships/image" Target="../media/image2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6.png" /><Relationship Id="rId11" Type="http://schemas.openxmlformats.org/officeDocument/2006/relationships/image" Target="../media/image21.png" /><Relationship Id="rId5" Type="http://schemas.openxmlformats.org/officeDocument/2006/relationships/image" Target="../media/image15.png" /><Relationship Id="rId10" Type="http://schemas.openxmlformats.org/officeDocument/2006/relationships/image" Target="../media/image20.png" /><Relationship Id="rId4" Type="http://schemas.openxmlformats.org/officeDocument/2006/relationships/image" Target="../media/image14.png" /><Relationship Id="rId9" Type="http://schemas.openxmlformats.org/officeDocument/2006/relationships/image" Target="../media/image19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7.png" /><Relationship Id="rId5" Type="http://schemas.openxmlformats.org/officeDocument/2006/relationships/image" Target="../media/image26.png" /><Relationship Id="rId4" Type="http://schemas.openxmlformats.org/officeDocument/2006/relationships/image" Target="../media/image25.png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0.png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85800" y="5257800"/>
            <a:ext cx="10820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9829800" y="533400"/>
            <a:ext cx="1676400" cy="428625"/>
          </a:xfrm>
          <a:prstGeom prst="roundRect">
            <a:avLst>
              <a:gd name="adj" fmla="val 26666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85800" y="5257800"/>
            <a:ext cx="108204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685800" y="5800725"/>
            <a:ext cx="1238250" cy="523875"/>
          </a:xfrm>
          <a:prstGeom prst="roundRect">
            <a:avLst>
              <a:gd name="adj" fmla="val 14545"/>
            </a:avLst>
          </a:prstGeom>
          <a:solidFill>
            <a:srgbClr val="131C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2076450" y="5800725"/>
            <a:ext cx="1238250" cy="523875"/>
          </a:xfrm>
          <a:prstGeom prst="roundRect">
            <a:avLst>
              <a:gd name="adj" fmla="val 14545"/>
            </a:avLst>
          </a:prstGeom>
          <a:solidFill>
            <a:srgbClr val="131C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3467100" y="5800725"/>
            <a:ext cx="1238250" cy="523875"/>
          </a:xfrm>
          <a:prstGeom prst="roundRect">
            <a:avLst>
              <a:gd name="adj" fmla="val 14545"/>
            </a:avLst>
          </a:prstGeom>
          <a:solidFill>
            <a:srgbClr val="131C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4857750" y="5800725"/>
            <a:ext cx="1238250" cy="523875"/>
          </a:xfrm>
          <a:prstGeom prst="roundRect">
            <a:avLst>
              <a:gd name="adj" fmla="val 14545"/>
            </a:avLst>
          </a:prstGeom>
          <a:solidFill>
            <a:srgbClr val="131C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6248400" y="5800725"/>
            <a:ext cx="1238250" cy="523875"/>
          </a:xfrm>
          <a:prstGeom prst="roundRect">
            <a:avLst>
              <a:gd name="adj" fmla="val 14545"/>
            </a:avLst>
          </a:prstGeom>
          <a:solidFill>
            <a:srgbClr val="131C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9925050" y="647700"/>
            <a:ext cx="13908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Academic Year 2026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85800" y="533400"/>
            <a:ext cx="1012031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PROBLEM STATEMENT 1 • 3RD SEM AIML PROJECT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85800" y="819150"/>
            <a:ext cx="8601075" cy="1007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AI-Based Personalized Learning Content Generator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85800" y="1979116"/>
            <a:ext cx="65722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 adaptive curriculum generation using LLM prompt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engineering &amp; score feedback loops</a:t>
            </a:r>
            <a:endParaRPr dirty="0"/>
          </a:p>
        </p:txBody>
      </p:sp>
      <p:sp>
        <p:nvSpPr>
          <p:cNvPr id="96" name="Google Shape;96;p13"/>
          <p:cNvSpPr txBox="1"/>
          <p:nvPr/>
        </p:nvSpPr>
        <p:spPr>
          <a:xfrm>
            <a:off x="685800" y="5534025"/>
            <a:ext cx="9251156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TEAM MEMBERS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7779543" y="5791200"/>
            <a:ext cx="153590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GUIDE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7779543" y="5972175"/>
            <a:ext cx="15360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           Ankit singh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7779543" y="6172200"/>
            <a:ext cx="15360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9196387" y="5791200"/>
            <a:ext cx="230981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INSTITUTION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9196387" y="5972175"/>
            <a:ext cx="23097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          Sage university bhopal 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819150" y="5895975"/>
            <a:ext cx="1257300" cy="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Krish koushal 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819150" y="6086475"/>
            <a:ext cx="1257300" cy="1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BTE25AIM10006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2209800" y="5895975"/>
            <a:ext cx="1257300" cy="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Shahejan shaikh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2209800" y="6086475"/>
            <a:ext cx="1257300" cy="1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BTE25AIM100011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3600450" y="5895975"/>
            <a:ext cx="1257300" cy="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Sohan Khan 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3600450" y="6086475"/>
            <a:ext cx="1257300" cy="1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BTE25AIM00056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4991100" y="5895975"/>
            <a:ext cx="1257300" cy="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Arkan khan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4991100" y="6086475"/>
            <a:ext cx="1257300" cy="1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BTE25AIM100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6248400" y="5895975"/>
            <a:ext cx="1257300" cy="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Shaksham thakur 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6381750" y="6086475"/>
            <a:ext cx="1257300" cy="1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BTE25AIM100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CBDC2F-1A93-26ED-47C6-3F3FFB536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977" y="1445900"/>
            <a:ext cx="6075037" cy="40500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/>
          <p:nvPr/>
        </p:nvSpPr>
        <p:spPr>
          <a:xfrm>
            <a:off x="609600" y="2843212"/>
            <a:ext cx="3505200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4343400" y="2843212"/>
            <a:ext cx="3505200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8077200" y="2843212"/>
            <a:ext cx="3505200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314801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10100" y="314801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43900" y="314801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0600" y="326231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24400" y="326231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82012" y="3262312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4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 &amp; CHALLENGE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609600" y="7429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Static Learning Materials Fail Modern Students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876300" y="3757612"/>
            <a:ext cx="390048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Fixed Pace Mismatch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876300" y="4090987"/>
            <a:ext cx="30670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Static textbooks force uniform pacing across students with wildly disparate baselines.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4610100" y="3757612"/>
            <a:ext cx="390048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Unaddressed Gaps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4610100" y="4090987"/>
            <a:ext cx="30670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Standardized lecture notes cannot diagnose or remediate localized conceptual misconceptions.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8343900" y="3757612"/>
            <a:ext cx="38481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Delayed Feedback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8343900" y="4090987"/>
            <a:ext cx="30670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Traditional evaluations take days to grade without producing instant targeted study guides.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/>
          <p:nvPr/>
        </p:nvSpPr>
        <p:spPr>
          <a:xfrm>
            <a:off x="609600" y="2667000"/>
            <a:ext cx="5372100" cy="1162050"/>
          </a:xfrm>
          <a:prstGeom prst="roundRect">
            <a:avLst>
              <a:gd name="adj" fmla="val 1147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6210300" y="2667000"/>
            <a:ext cx="5372100" cy="1162050"/>
          </a:xfrm>
          <a:prstGeom prst="roundRect">
            <a:avLst>
              <a:gd name="adj" fmla="val 1147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609600" y="4057650"/>
            <a:ext cx="5372100" cy="1162050"/>
          </a:xfrm>
          <a:prstGeom prst="roundRect">
            <a:avLst>
              <a:gd name="adj" fmla="val 1147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6210300" y="4057650"/>
            <a:ext cx="5372100" cy="1162050"/>
          </a:xfrm>
          <a:prstGeom prst="roundRect">
            <a:avLst>
              <a:gd name="adj" fmla="val 1147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609600" y="2667000"/>
            <a:ext cx="38100" cy="1162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6210300" y="2667000"/>
            <a:ext cx="38100" cy="1162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609600" y="4057650"/>
            <a:ext cx="38100" cy="1162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6210300" y="4057650"/>
            <a:ext cx="38100" cy="1162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2933700"/>
            <a:ext cx="2000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15100" y="2933700"/>
            <a:ext cx="1809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4324350"/>
            <a:ext cx="1809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15100" y="4324350"/>
            <a:ext cx="1619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GOALS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609600" y="7429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Engineering Objectives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914400" y="2895600"/>
            <a:ext cx="63007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Personalized Explanations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914400" y="3200400"/>
            <a:ext cx="4895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Generate tailored breakdowns tuned to student self-ratings or test histories.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6515100" y="2895600"/>
            <a:ext cx="5676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 Difficulty Adjuster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6515100" y="3200400"/>
            <a:ext cx="4895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 step progression between beginner, intermediate, and advanced levels.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914400" y="4286250"/>
            <a:ext cx="63007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Instant Practice Assessment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914400" y="4591050"/>
            <a:ext cx="6000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Formulate active evaluation quizzes and answer keys on-the-fly.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6515100" y="4286250"/>
            <a:ext cx="5676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Low-Latency Generation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6515100" y="4591050"/>
            <a:ext cx="4895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Deliver structured summaries in under 3 seconds using LLM endpoints.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/>
          <p:nvPr/>
        </p:nvSpPr>
        <p:spPr>
          <a:xfrm>
            <a:off x="5981700" y="2662237"/>
            <a:ext cx="5600700" cy="2562225"/>
          </a:xfrm>
          <a:prstGeom prst="roundRect">
            <a:avLst>
              <a:gd name="adj" fmla="val 594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6286500" y="4100512"/>
            <a:ext cx="49911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425559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4569916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4884241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6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SOLUTION BLUEPRINT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609600" y="7429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Applied Generative AI Pipeline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609600" y="2826246"/>
            <a:ext cx="655081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Prompt Engineering over Retraining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609600" y="3264396"/>
            <a:ext cx="5086350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Rather than training heavy foundation models from scratch, our solution leverages state-of-the-art Generative AI APIs guided by deterministic prompt templates and learner metric heuristics.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6286500" y="2967037"/>
            <a:ext cx="5905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TRANSFORMATION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6286500" y="3290887"/>
            <a:ext cx="508635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TRADITIONAL CLASSROOM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6286500" y="4262437"/>
            <a:ext cx="50863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PROPOSED AI PLATFORM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6286500" y="3548062"/>
            <a:ext cx="50863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 textbook, static explanations, passive multi-week evaluation cycles.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6286500" y="4519612"/>
            <a:ext cx="50863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Adaptive depth, real-time remediation, automated difficulty recalibration.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876300" y="4231778"/>
            <a:ext cx="3429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Role-conditioned system instructions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876300" y="4546103"/>
            <a:ext cx="339328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heuristic difficulty routing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876300" y="4860428"/>
            <a:ext cx="34766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Lightweight web application interface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/>
          <p:nvPr/>
        </p:nvSpPr>
        <p:spPr>
          <a:xfrm>
            <a:off x="609600" y="3100387"/>
            <a:ext cx="1905000" cy="1638300"/>
          </a:xfrm>
          <a:prstGeom prst="roundRect">
            <a:avLst>
              <a:gd name="adj" fmla="val 8139"/>
            </a:avLst>
          </a:prstGeom>
          <a:solidFill>
            <a:srgbClr val="F8FAFC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2876550" y="3100387"/>
            <a:ext cx="1905000" cy="1638300"/>
          </a:xfrm>
          <a:prstGeom prst="roundRect">
            <a:avLst>
              <a:gd name="adj" fmla="val 8139"/>
            </a:avLst>
          </a:prstGeom>
          <a:solidFill>
            <a:srgbClr val="F8FAFC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5143500" y="3100387"/>
            <a:ext cx="1905000" cy="1638300"/>
          </a:xfrm>
          <a:prstGeom prst="roundRect">
            <a:avLst>
              <a:gd name="adj" fmla="val 8139"/>
            </a:avLst>
          </a:prstGeom>
          <a:solidFill>
            <a:srgbClr val="F8FAFC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7410450" y="3195637"/>
            <a:ext cx="1905000" cy="1447800"/>
          </a:xfrm>
          <a:prstGeom prst="roundRect">
            <a:avLst>
              <a:gd name="adj" fmla="val 9210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9677400" y="3100387"/>
            <a:ext cx="1905000" cy="1638300"/>
          </a:xfrm>
          <a:prstGeom prst="roundRect">
            <a:avLst>
              <a:gd name="adj" fmla="val 8139"/>
            </a:avLst>
          </a:prstGeom>
          <a:solidFill>
            <a:srgbClr val="ECFDF5"/>
          </a:solidFill>
          <a:ln w="19050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500" y="33480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95562" y="381476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450" y="33480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62512" y="381476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67400" y="33480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29462" y="381476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34350" y="34242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96412" y="381476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401300" y="33480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76375" y="34813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733800" y="34813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76937" y="3481387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267700" y="35575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520362" y="3481387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ENGINEERING BLUEPRINT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Architecture Diagram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586978" y="3919537"/>
            <a:ext cx="195024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Student Input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633412" y="4186237"/>
            <a:ext cx="1857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Topic, Self-Rating, Prior Scores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2853928" y="3919537"/>
            <a:ext cx="195024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Proficiency Logic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2900362" y="4186237"/>
            <a:ext cx="1857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Difficulty Heuristic Mapping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5120878" y="3919537"/>
            <a:ext cx="195024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Prompt Engine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5167312" y="4186237"/>
            <a:ext cx="1857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+ Context Injection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7362825" y="3995737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LLM API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7410450" y="4262437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Gemini / OpenAI API Call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9654778" y="3919537"/>
            <a:ext cx="195024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65F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 Content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9701212" y="4186237"/>
            <a:ext cx="1857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478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Notes + Practice Questions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/>
          <p:nvPr/>
        </p:nvSpPr>
        <p:spPr>
          <a:xfrm>
            <a:off x="609600" y="3043237"/>
            <a:ext cx="2571750" cy="1838325"/>
          </a:xfrm>
          <a:prstGeom prst="roundRect">
            <a:avLst>
              <a:gd name="adj" fmla="val 725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3409950" y="3043237"/>
            <a:ext cx="2571750" cy="1838325"/>
          </a:xfrm>
          <a:prstGeom prst="roundRect">
            <a:avLst>
              <a:gd name="adj" fmla="val 725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6210300" y="3043237"/>
            <a:ext cx="2571750" cy="1838325"/>
          </a:xfrm>
          <a:prstGeom prst="roundRect">
            <a:avLst>
              <a:gd name="adj" fmla="val 725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9010650" y="3043237"/>
            <a:ext cx="2571750" cy="1838325"/>
          </a:xfrm>
          <a:prstGeom prst="roundRect">
            <a:avLst>
              <a:gd name="adj" fmla="val 725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9262" y="3348037"/>
            <a:ext cx="3524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71987" y="3348037"/>
            <a:ext cx="4476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6150" y="3348037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20312" y="3348037"/>
            <a:ext cx="3524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8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APPLIED TECH STACK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609600" y="7429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Tools &amp; Frameworks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507801" y="3900487"/>
            <a:ext cx="277534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Python 3.10+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573881" y="4214812"/>
            <a:ext cx="26431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application logic &amp; API orchestration engine.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3308151" y="3900487"/>
            <a:ext cx="277534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Streamlit</a:t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3374231" y="4214812"/>
            <a:ext cx="26431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Rapid interactive UI for student prompts and outputs.</a:t>
            </a:r>
            <a:endParaRPr/>
          </a:p>
        </p:txBody>
      </p:sp>
      <p:sp>
        <p:nvSpPr>
          <p:cNvPr id="233" name="Google Shape;233;p18"/>
          <p:cNvSpPr txBox="1"/>
          <p:nvPr/>
        </p:nvSpPr>
        <p:spPr>
          <a:xfrm>
            <a:off x="6108501" y="3900487"/>
            <a:ext cx="277534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Generative AI API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6174581" y="4214812"/>
            <a:ext cx="26431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Gemini 1.5 Flash / OpenAI for dynamic synthesis.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8908851" y="3900487"/>
            <a:ext cx="277534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Pandas &amp; JSON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8974931" y="4214812"/>
            <a:ext cx="26431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Session tracking &amp; quiz response scoring.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"/>
          <p:cNvSpPr/>
          <p:nvPr/>
        </p:nvSpPr>
        <p:spPr>
          <a:xfrm>
            <a:off x="609600" y="3176587"/>
            <a:ext cx="2600325" cy="1533525"/>
          </a:xfrm>
          <a:prstGeom prst="roundRect">
            <a:avLst>
              <a:gd name="adj" fmla="val 7453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3400425" y="3176587"/>
            <a:ext cx="2600325" cy="1533525"/>
          </a:xfrm>
          <a:prstGeom prst="roundRect">
            <a:avLst>
              <a:gd name="adj" fmla="val 7453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6191250" y="3176587"/>
            <a:ext cx="2600325" cy="1533525"/>
          </a:xfrm>
          <a:prstGeom prst="roundRect">
            <a:avLst>
              <a:gd name="adj" fmla="val 7453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8982075" y="3176587"/>
            <a:ext cx="2600325" cy="1533525"/>
          </a:xfrm>
          <a:prstGeom prst="roundRect">
            <a:avLst>
              <a:gd name="adj" fmla="val 7453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EXECUTION PIPELINE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609600" y="7429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Working Methodology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800100" y="3405187"/>
            <a:ext cx="277415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01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800100" y="3824287"/>
            <a:ext cx="291286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Capture Input</a:t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800100" y="4119562"/>
            <a:ext cx="23145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Collect target topic and self-evaluation rating.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3590925" y="3405187"/>
            <a:ext cx="277415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02</a:t>
            </a:r>
            <a:endParaRPr/>
          </a:p>
        </p:txBody>
      </p:sp>
      <p:sp>
        <p:nvSpPr>
          <p:cNvPr id="251" name="Google Shape;251;p19"/>
          <p:cNvSpPr txBox="1"/>
          <p:nvPr/>
        </p:nvSpPr>
        <p:spPr>
          <a:xfrm>
            <a:off x="3590925" y="3824287"/>
            <a:ext cx="291286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Build Prompt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3590925" y="4119562"/>
            <a:ext cx="23145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Inject difficulty constraints into persona templates.</a:t>
            </a:r>
            <a:endParaRPr/>
          </a:p>
        </p:txBody>
      </p:sp>
      <p:sp>
        <p:nvSpPr>
          <p:cNvPr id="253" name="Google Shape;253;p19"/>
          <p:cNvSpPr txBox="1"/>
          <p:nvPr/>
        </p:nvSpPr>
        <p:spPr>
          <a:xfrm>
            <a:off x="6381750" y="3405187"/>
            <a:ext cx="277415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03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6381750" y="3824287"/>
            <a:ext cx="291286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Call LLM API</a:t>
            </a:r>
            <a:endParaRPr/>
          </a:p>
        </p:txBody>
      </p:sp>
      <p:sp>
        <p:nvSpPr>
          <p:cNvPr id="255" name="Google Shape;255;p19"/>
          <p:cNvSpPr txBox="1"/>
          <p:nvPr/>
        </p:nvSpPr>
        <p:spPr>
          <a:xfrm>
            <a:off x="6381750" y="4119562"/>
            <a:ext cx="23145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Stream formatted explanations and review MCQs.</a:t>
            </a: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9172575" y="3405187"/>
            <a:ext cx="277415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04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9172575" y="3824287"/>
            <a:ext cx="291286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Feedback Loop</a:t>
            </a:r>
            <a:endParaRPr/>
          </a:p>
        </p:txBody>
      </p:sp>
      <p:sp>
        <p:nvSpPr>
          <p:cNvPr id="258" name="Google Shape;258;p19"/>
          <p:cNvSpPr txBox="1"/>
          <p:nvPr/>
        </p:nvSpPr>
        <p:spPr>
          <a:xfrm>
            <a:off x="9172575" y="4119562"/>
            <a:ext cx="23145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Grade quiz responses to update user level score.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"/>
          <p:cNvSpPr/>
          <p:nvPr/>
        </p:nvSpPr>
        <p:spPr>
          <a:xfrm>
            <a:off x="609600" y="2819400"/>
            <a:ext cx="3505200" cy="2247900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476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609600" y="2819400"/>
            <a:ext cx="3505200" cy="47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4343400" y="2819400"/>
            <a:ext cx="3505200" cy="2247900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47625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4343400" y="2819400"/>
            <a:ext cx="3505200" cy="476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8077200" y="2819400"/>
            <a:ext cx="3505200" cy="2247900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47625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8077200" y="2819400"/>
            <a:ext cx="3505200" cy="4762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838200" y="4362450"/>
            <a:ext cx="3048000" cy="400050"/>
          </a:xfrm>
          <a:prstGeom prst="roundRect">
            <a:avLst>
              <a:gd name="adj" fmla="val 19047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4572000" y="4362450"/>
            <a:ext cx="3048000" cy="400050"/>
          </a:xfrm>
          <a:prstGeom prst="roundRect">
            <a:avLst>
              <a:gd name="adj" fmla="val 19047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8305800" y="4362450"/>
            <a:ext cx="3048000" cy="400050"/>
          </a:xfrm>
          <a:prstGeom prst="roundRect">
            <a:avLst>
              <a:gd name="adj" fmla="val 19047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ADAPTIVE ALGORITHM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609600" y="7429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Score-Driven Difficulty Adjustment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838200" y="3124200"/>
            <a:ext cx="3143250" cy="16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Score: &lt; 50%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4572000" y="3124200"/>
            <a:ext cx="3143250" cy="16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Score: 50% - 80%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8305800" y="3124200"/>
            <a:ext cx="3143250" cy="16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8B5C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Score: &gt; 80%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838200" y="3448050"/>
            <a:ext cx="400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Beginner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838200" y="3848100"/>
            <a:ext cx="31432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Analogies, simple terminology, foundational focus.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952500" y="4476750"/>
            <a:ext cx="29146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Core intuition building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4572000" y="3448050"/>
            <a:ext cx="400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Intermediate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4572000" y="3848100"/>
            <a:ext cx="31432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Practical workflows, syntax examples, applied theory.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4686300" y="4476750"/>
            <a:ext cx="29146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Implementation skill</a:t>
            </a: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8305800" y="3448050"/>
            <a:ext cx="3886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Advanced</a:t>
            </a:r>
            <a:endParaRPr/>
          </a:p>
        </p:txBody>
      </p:sp>
      <p:sp>
        <p:nvSpPr>
          <p:cNvPr id="284" name="Google Shape;284;p20"/>
          <p:cNvSpPr txBox="1"/>
          <p:nvPr/>
        </p:nvSpPr>
        <p:spPr>
          <a:xfrm>
            <a:off x="8305800" y="3848100"/>
            <a:ext cx="31432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Edge cases, optimization, algorithmic mechanics.</a:t>
            </a:r>
            <a:endParaRPr/>
          </a:p>
        </p:txBody>
      </p:sp>
      <p:sp>
        <p:nvSpPr>
          <p:cNvPr id="285" name="Google Shape;285;p20"/>
          <p:cNvSpPr txBox="1"/>
          <p:nvPr/>
        </p:nvSpPr>
        <p:spPr>
          <a:xfrm>
            <a:off x="8420100" y="4476750"/>
            <a:ext cx="29146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Deep technical mastery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"/>
          <p:cNvSpPr/>
          <p:nvPr/>
        </p:nvSpPr>
        <p:spPr>
          <a:xfrm>
            <a:off x="609600" y="1457325"/>
            <a:ext cx="3530649" cy="4905375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4330749" y="1457325"/>
            <a:ext cx="3530649" cy="4905375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8051899" y="1457325"/>
            <a:ext cx="3530649" cy="4905375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EVALUATION PROOF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609600" y="74295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Sample Outputs: "Recursion in Python"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838200" y="1685925"/>
            <a:ext cx="3168699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LEVEL 1: BEGINNER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4559349" y="1685925"/>
            <a:ext cx="3168699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LEVEL 2: INTERMEDIATE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8280499" y="1685925"/>
            <a:ext cx="3168699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8B5C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LEVEL 3: ADVANCED</a:t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838200" y="1962150"/>
            <a:ext cx="4033902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Russian Dolls Analogy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838200" y="2247900"/>
            <a:ext cx="3168699" cy="57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"Think of recursion like opening nested Russian dolls until you reach the smallest doll (the base case)."</a:t>
            </a:r>
            <a:endParaRPr/>
          </a:p>
        </p:txBody>
      </p:sp>
      <p:sp>
        <p:nvSpPr>
          <p:cNvPr id="300" name="Google Shape;300;p21"/>
          <p:cNvSpPr txBox="1"/>
          <p:nvPr/>
        </p:nvSpPr>
        <p:spPr>
          <a:xfrm>
            <a:off x="838200" y="2942183"/>
            <a:ext cx="384181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1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Quiz: What stops infinite calls? (Base case)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4559349" y="1962150"/>
            <a:ext cx="4033902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Call Stack Tracing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4559349" y="2247900"/>
            <a:ext cx="3168699" cy="57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"Each recursive step pushes a stack frame containing local scope until base condition triggers return unwinding."</a:t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4559349" y="2942183"/>
            <a:ext cx="384181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1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Quiz: Calculate factorial(4) stack frame depth.</a:t>
            </a:r>
            <a:endParaRPr/>
          </a:p>
        </p:txBody>
      </p:sp>
      <p:sp>
        <p:nvSpPr>
          <p:cNvPr id="304" name="Google Shape;304;p21"/>
          <p:cNvSpPr txBox="1"/>
          <p:nvPr/>
        </p:nvSpPr>
        <p:spPr>
          <a:xfrm>
            <a:off x="8280499" y="1962150"/>
            <a:ext cx="3911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Tail Call &amp; Memory</a:t>
            </a:r>
            <a:endParaRPr/>
          </a:p>
        </p:txBody>
      </p:sp>
      <p:sp>
        <p:nvSpPr>
          <p:cNvPr id="305" name="Google Shape;305;p21"/>
          <p:cNvSpPr txBox="1"/>
          <p:nvPr/>
        </p:nvSpPr>
        <p:spPr>
          <a:xfrm>
            <a:off x="8280499" y="2247900"/>
            <a:ext cx="3168699" cy="57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"Python lacks native Tail-Call Optimization (TCO), making deep recursion subject to RecursionError overflow."</a:t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8280499" y="2942183"/>
            <a:ext cx="384181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1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Quiz: Refactor recursive tree walk to iterative stack.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7F06F7-B1BF-B799-BEF1-CD9C78DB1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405" y="3532968"/>
            <a:ext cx="8128000" cy="29863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2"/>
          <p:cNvSpPr/>
          <p:nvPr/>
        </p:nvSpPr>
        <p:spPr>
          <a:xfrm>
            <a:off x="6286500" y="2643187"/>
            <a:ext cx="5295900" cy="752475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6286500" y="3548062"/>
            <a:ext cx="5295900" cy="752475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6286500" y="4452937"/>
            <a:ext cx="5295900" cy="752475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114550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2133600"/>
            <a:ext cx="52959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2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FRONT-END PROTOTYPE</a:t>
            </a:r>
            <a:endParaRPr/>
          </a:p>
        </p:txBody>
      </p:sp>
      <p:sp>
        <p:nvSpPr>
          <p:cNvPr id="317" name="Google Shape;317;p22"/>
          <p:cNvSpPr txBox="1"/>
          <p:nvPr/>
        </p:nvSpPr>
        <p:spPr>
          <a:xfrm>
            <a:off x="609600" y="7429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Interactive Streamlit Dashboard</a:t>
            </a:r>
            <a:endParaRPr/>
          </a:p>
        </p:txBody>
      </p:sp>
      <p:sp>
        <p:nvSpPr>
          <p:cNvPr id="318" name="Google Shape;318;p22"/>
          <p:cNvSpPr txBox="1"/>
          <p:nvPr/>
        </p:nvSpPr>
        <p:spPr>
          <a:xfrm>
            <a:off x="6477000" y="2814637"/>
            <a:ext cx="5715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Input Controls</a:t>
            </a:r>
            <a:endParaRPr/>
          </a:p>
        </p:txBody>
      </p:sp>
      <p:sp>
        <p:nvSpPr>
          <p:cNvPr id="319" name="Google Shape;319;p22"/>
          <p:cNvSpPr txBox="1"/>
          <p:nvPr/>
        </p:nvSpPr>
        <p:spPr>
          <a:xfrm>
            <a:off x="6477000" y="3052762"/>
            <a:ext cx="5715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Topic text input box + self-assessed proficiency radio buttons.</a:t>
            </a:r>
            <a:endParaRPr/>
          </a:p>
        </p:txBody>
      </p:sp>
      <p:sp>
        <p:nvSpPr>
          <p:cNvPr id="320" name="Google Shape;320;p22"/>
          <p:cNvSpPr txBox="1"/>
          <p:nvPr/>
        </p:nvSpPr>
        <p:spPr>
          <a:xfrm>
            <a:off x="6477000" y="3719512"/>
            <a:ext cx="5715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Live Generation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6477000" y="3957637"/>
            <a:ext cx="5715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One-click generation rendering explanations in formatted Markdown.</a:t>
            </a: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6477000" y="4624387"/>
            <a:ext cx="5715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In-App Quiz Widget</a:t>
            </a:r>
            <a:endParaRPr/>
          </a:p>
        </p:txBody>
      </p:sp>
      <p:sp>
        <p:nvSpPr>
          <p:cNvPr id="323" name="Google Shape;323;p22"/>
          <p:cNvSpPr txBox="1"/>
          <p:nvPr/>
        </p:nvSpPr>
        <p:spPr>
          <a:xfrm>
            <a:off x="6477000" y="4862512"/>
            <a:ext cx="5715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Auto-grades answers to automatically advance the student difficulty level.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3"/>
          <p:cNvSpPr/>
          <p:nvPr/>
        </p:nvSpPr>
        <p:spPr>
          <a:xfrm>
            <a:off x="609600" y="1524000"/>
            <a:ext cx="5314950" cy="4838700"/>
          </a:xfrm>
          <a:prstGeom prst="roundRect">
            <a:avLst>
              <a:gd name="adj" fmla="val 275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3"/>
          <p:cNvSpPr/>
          <p:nvPr/>
        </p:nvSpPr>
        <p:spPr>
          <a:xfrm>
            <a:off x="6267450" y="1524000"/>
            <a:ext cx="5314950" cy="4838700"/>
          </a:xfrm>
          <a:prstGeom prst="roundRect">
            <a:avLst>
              <a:gd name="adj" fmla="val 2755"/>
            </a:avLst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3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 &amp; ROADMAP</a:t>
            </a:r>
            <a:endParaRPr/>
          </a:p>
        </p:txBody>
      </p:sp>
      <p:sp>
        <p:nvSpPr>
          <p:cNvPr id="331" name="Google Shape;331;p23"/>
          <p:cNvSpPr txBox="1"/>
          <p:nvPr/>
        </p:nvSpPr>
        <p:spPr>
          <a:xfrm>
            <a:off x="609600" y="7429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Results &amp; Future Scope</a:t>
            </a:r>
            <a:endParaRPr/>
          </a:p>
        </p:txBody>
      </p:sp>
      <p:sp>
        <p:nvSpPr>
          <p:cNvPr id="332" name="Google Shape;332;p23"/>
          <p:cNvSpPr txBox="1"/>
          <p:nvPr/>
        </p:nvSpPr>
        <p:spPr>
          <a:xfrm>
            <a:off x="876300" y="1790700"/>
            <a:ext cx="627578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Current Capabilities</a:t>
            </a:r>
            <a:endParaRPr/>
          </a:p>
        </p:txBody>
      </p:sp>
      <p:sp>
        <p:nvSpPr>
          <p:cNvPr id="333" name="Google Shape;333;p23"/>
          <p:cNvSpPr txBox="1"/>
          <p:nvPr/>
        </p:nvSpPr>
        <p:spPr>
          <a:xfrm>
            <a:off x="6534150" y="1790700"/>
            <a:ext cx="56578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Future Roadmap</a:t>
            </a:r>
            <a:endParaRPr/>
          </a:p>
        </p:txBody>
      </p:sp>
      <p:sp>
        <p:nvSpPr>
          <p:cNvPr id="334" name="Google Shape;334;p23"/>
          <p:cNvSpPr txBox="1"/>
          <p:nvPr/>
        </p:nvSpPr>
        <p:spPr>
          <a:xfrm>
            <a:off x="876300" y="2181225"/>
            <a:ext cx="597693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Sub-3s Latency: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Instant explanation generation.</a:t>
            </a:r>
            <a:endParaRPr/>
          </a:p>
        </p:txBody>
      </p:sp>
      <p:sp>
        <p:nvSpPr>
          <p:cNvPr id="335" name="Google Shape;335;p23"/>
          <p:cNvSpPr txBox="1"/>
          <p:nvPr/>
        </p:nvSpPr>
        <p:spPr>
          <a:xfrm>
            <a:off x="876300" y="2476500"/>
            <a:ext cx="597693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Adaptive Scaffolding: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Automatic difficulty adjustment.</a:t>
            </a:r>
            <a:endParaRPr/>
          </a:p>
        </p:txBody>
      </p:sp>
      <p:sp>
        <p:nvSpPr>
          <p:cNvPr id="336" name="Google Shape;336;p23"/>
          <p:cNvSpPr txBox="1"/>
          <p:nvPr/>
        </p:nvSpPr>
        <p:spPr>
          <a:xfrm>
            <a:off x="876300" y="2771775"/>
            <a:ext cx="597693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Training Cost: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Built using existing LLM endpoints.</a:t>
            </a:r>
            <a:endParaRPr/>
          </a:p>
        </p:txBody>
      </p:sp>
      <p:sp>
        <p:nvSpPr>
          <p:cNvPr id="337" name="Google Shape;337;p23"/>
          <p:cNvSpPr txBox="1"/>
          <p:nvPr/>
        </p:nvSpPr>
        <p:spPr>
          <a:xfrm>
            <a:off x="6534150" y="2181225"/>
            <a:ext cx="56578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7598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RAG Integration:</a:t>
            </a:r>
            <a:r>
              <a:rPr lang="en-US" sz="1125" b="0" i="0" u="none" strike="noStrike" cap="none">
                <a:solidFill>
                  <a:srgbClr val="07598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Plug syllabus PDFs &amp; verified notes.</a:t>
            </a:r>
            <a:endParaRPr/>
          </a:p>
        </p:txBody>
      </p:sp>
      <p:sp>
        <p:nvSpPr>
          <p:cNvPr id="338" name="Google Shape;338;p23"/>
          <p:cNvSpPr txBox="1"/>
          <p:nvPr/>
        </p:nvSpPr>
        <p:spPr>
          <a:xfrm>
            <a:off x="6534150" y="2476500"/>
            <a:ext cx="56578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7598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Speech Synthesis:</a:t>
            </a:r>
            <a:r>
              <a:rPr lang="en-US" sz="1125" b="0" i="0" u="none" strike="noStrike" cap="none">
                <a:solidFill>
                  <a:srgbClr val="07598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Audio narration for multimodal learners.</a:t>
            </a:r>
            <a:endParaRPr/>
          </a:p>
        </p:txBody>
      </p:sp>
      <p:sp>
        <p:nvSpPr>
          <p:cNvPr id="339" name="Google Shape;339;p23"/>
          <p:cNvSpPr txBox="1"/>
          <p:nvPr/>
        </p:nvSpPr>
        <p:spPr>
          <a:xfrm>
            <a:off x="6534150" y="2771775"/>
            <a:ext cx="56578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7598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Persistent Profiles:</a:t>
            </a:r>
            <a:r>
              <a:rPr lang="en-US" sz="1125" b="0" i="0" u="none" strike="noStrike" cap="none">
                <a:solidFill>
                  <a:srgbClr val="07598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Longitudinal knowledge gap tracking.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4"/>
          <p:cNvSpPr/>
          <p:nvPr/>
        </p:nvSpPr>
        <p:spPr>
          <a:xfrm>
            <a:off x="4548187" y="4401442"/>
            <a:ext cx="3095625" cy="466725"/>
          </a:xfrm>
          <a:prstGeom prst="roundRect">
            <a:avLst>
              <a:gd name="adj" fmla="val 20408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4"/>
          <p:cNvSpPr txBox="1"/>
          <p:nvPr/>
        </p:nvSpPr>
        <p:spPr>
          <a:xfrm>
            <a:off x="5131593" y="1989832"/>
            <a:ext cx="192881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SUMMARY</a:t>
            </a:r>
            <a:endParaRPr/>
          </a:p>
        </p:txBody>
      </p:sp>
      <p:sp>
        <p:nvSpPr>
          <p:cNvPr id="346" name="Google Shape;346;p24"/>
          <p:cNvSpPr txBox="1"/>
          <p:nvPr/>
        </p:nvSpPr>
        <p:spPr>
          <a:xfrm>
            <a:off x="1095375" y="2313682"/>
            <a:ext cx="10001250" cy="100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Democratizing Personalized Tutoring with Generative AI</a:t>
            </a:r>
            <a:endParaRPr/>
          </a:p>
        </p:txBody>
      </p:sp>
      <p:sp>
        <p:nvSpPr>
          <p:cNvPr id="347" name="Google Shape;347;p24"/>
          <p:cNvSpPr txBox="1"/>
          <p:nvPr/>
        </p:nvSpPr>
        <p:spPr>
          <a:xfrm>
            <a:off x="2286000" y="3509962"/>
            <a:ext cx="7620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By combining heuristic difficulty routing with structured prompt engineering, we transform static classroom material into an interactive personal mentor.</a:t>
            </a:r>
            <a:endParaRPr/>
          </a:p>
        </p:txBody>
      </p:sp>
      <p:sp>
        <p:nvSpPr>
          <p:cNvPr id="348" name="Google Shape;348;p24"/>
          <p:cNvSpPr txBox="1"/>
          <p:nvPr/>
        </p:nvSpPr>
        <p:spPr>
          <a:xfrm>
            <a:off x="4494609" y="4534792"/>
            <a:ext cx="3202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Shahejan Shaikh</cp:lastModifiedBy>
  <cp:revision>1</cp:revision>
  <dcterms:modified xsi:type="dcterms:W3CDTF">2026-10-28T16:13:23Z</dcterms:modified>
</cp:coreProperties>
</file>